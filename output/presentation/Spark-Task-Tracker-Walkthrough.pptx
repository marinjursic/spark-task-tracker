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3087ef9fa14f3a" /><Relationship Type="http://schemas.openxmlformats.org/officeDocument/2006/relationships/extended-properties" Target="/docProps/app.xml" Id="R7f2ffb76c49545a1" /><Relationship Type="http://schemas.openxmlformats.org/officeDocument/2006/relationships/officeDocument" Target="/ppt/presentation.xml" Id="Reb8202a0359d43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09cd61d12e4795"/>
  </p:sldMasterIdLst>
  <p:notesMasterIdLst>
    <p:notesMasterId xmlns:r="http://schemas.openxmlformats.org/officeDocument/2006/relationships" r:id="Rbb8059aa37794d6b"/>
  </p:notesMasterIdLst>
  <p:sldIdLst>
    <p:sldId xmlns:r="http://schemas.openxmlformats.org/officeDocument/2006/relationships" id="256" r:id="Rc868939f6ce84bc1"/>
    <p:sldId xmlns:r="http://schemas.openxmlformats.org/officeDocument/2006/relationships" id="257" r:id="R5d204716fd164755"/>
    <p:sldId xmlns:r="http://schemas.openxmlformats.org/officeDocument/2006/relationships" id="258" r:id="R24f92b29f3ac470b"/>
    <p:sldId xmlns:r="http://schemas.openxmlformats.org/officeDocument/2006/relationships" id="259" r:id="Rdcef2c58d8614ead"/>
    <p:sldId xmlns:r="http://schemas.openxmlformats.org/officeDocument/2006/relationships" id="260" r:id="Rbbe6de8aa3e54a84"/>
    <p:sldId xmlns:r="http://schemas.openxmlformats.org/officeDocument/2006/relationships" id="261" r:id="R0063c9a747ac41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7363f6b722404d" /><Relationship Type="http://schemas.openxmlformats.org/officeDocument/2006/relationships/slideMaster" Target="/ppt/slideMasters/slideMaster1.xml" Id="R6a09cd61d12e4795" /><Relationship Type="http://schemas.openxmlformats.org/officeDocument/2006/relationships/notesMaster" Target="/ppt/notesMasters/notesMaster1.xml" Id="Rbb8059aa37794d6b" /><Relationship Type="http://schemas.openxmlformats.org/officeDocument/2006/relationships/presProps" Target="/ppt/presProps.xml" Id="R3b4529f6a84e4106" /><Relationship Type="http://schemas.openxmlformats.org/officeDocument/2006/relationships/tableStyles" Target="/ppt/tableStyles.xml" Id="Rf9d92091c3d64b8f" /><Relationship Type="http://schemas.openxmlformats.org/officeDocument/2006/relationships/slide" Target="/ppt/slides/slide1.xml" Id="Rc868939f6ce84bc1" /><Relationship Type="http://schemas.openxmlformats.org/officeDocument/2006/relationships/slide" Target="/ppt/slides/slide2.xml" Id="R5d204716fd164755" /><Relationship Type="http://schemas.openxmlformats.org/officeDocument/2006/relationships/slide" Target="/ppt/slides/slide3.xml" Id="R24f92b29f3ac470b" /><Relationship Type="http://schemas.openxmlformats.org/officeDocument/2006/relationships/slide" Target="/ppt/slides/slide4.xml" Id="Rdcef2c58d8614ead" /><Relationship Type="http://schemas.openxmlformats.org/officeDocument/2006/relationships/slide" Target="/ppt/slides/slide5.xml" Id="Rbbe6de8aa3e54a84" /><Relationship Type="http://schemas.openxmlformats.org/officeDocument/2006/relationships/slide" Target="/ppt/slides/slide6.xml" Id="R0063c9a747ac41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1173a09f814e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be1503ed2744a8" /><Relationship Type="http://schemas.openxmlformats.org/officeDocument/2006/relationships/notesMaster" Target="/ppt/notesMasters/notesMaster1.xml" Id="R962f0af450f34c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84f410a4e740e5" /><Relationship Type="http://schemas.openxmlformats.org/officeDocument/2006/relationships/notesMaster" Target="/ppt/notesMasters/notesMaster1.xml" Id="Ree25a2e481ad41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0d9ae08efb472b" /><Relationship Type="http://schemas.openxmlformats.org/officeDocument/2006/relationships/notesMaster" Target="/ppt/notesMasters/notesMaster1.xml" Id="Rd36e3b4a37b345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8dac9ba0dc474b" /><Relationship Type="http://schemas.openxmlformats.org/officeDocument/2006/relationships/notesMaster" Target="/ppt/notesMasters/notesMaster1.xml" Id="R14eaa2de0fe946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2dad1d7a0a4734" /><Relationship Type="http://schemas.openxmlformats.org/officeDocument/2006/relationships/notesMaster" Target="/ppt/notesMasters/notesMaster1.xml" Id="R7699dff240bc4b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c216ddfed146a8" /><Relationship Type="http://schemas.openxmlformats.org/officeDocument/2006/relationships/notesMaster" Target="/ppt/notesMasters/notesMaster1.xml" Id="Rb60d2bc132b54a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outcome: a complete, intentionally small tracker that is easy to use and easy to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Spark Tutoring Full Stack Developer - Task Tracker Challenge.pdf (provided brief)</a:t>
            </a:r>
          </a:p>
          <a:p xmlns:a="http://schemas.openxmlformats.org/drawingml/2006/main">
            <a:r>
              <a:t>- Spark Team Task Tracker README.md (project overview)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four actions in order. The screenshot is from the browser-verified application, not a mockup. Mention search and status filters only after the required 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Spark Tutoring Full Stack Developer - Task Tracker Challenge.pdf (required features)</a:t>
            </a:r>
          </a:p>
          <a:p xmlns:a="http://schemas.openxmlformats.org/drawingml/2006/main">
            <a:r>
              <a:t>- docs/assets/task-tracker-desktop.png (local browser QA capture)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trade-off: quality is concentrated on the required workflow. Search/filter is the only chosen bonus because it delivers immediate value without expanding the data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Spark Tutoring Full Stack Developer - Task Tracker Challenge.pdf (required and bonus features)</a:t>
            </a:r>
          </a:p>
          <a:p xmlns:a="http://schemas.openxmlformats.org/drawingml/2006/main">
            <a:r>
              <a:t>- README.md (deliberate trade-offs)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left to right. React renders; the API service owns HTTP; Django REST validates and coordinates; the ORM persists. Call out the SQLite/PostgreSQL choice as review convenience, not architectural compromise.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frontend/src (application source)</a:t>
            </a:r>
          </a:p>
          <a:p xmlns:a="http://schemas.openxmlformats.org/drawingml/2006/main">
            <a:r>
              <a:t>- backend/tasks and backend/config (application source)</a:t>
            </a:r>
          </a:p>
          <a:p xmlns:a="http://schemas.openxmlformats.org/drawingml/2006/main">
            <a:r>
              <a:t>- README.md (architecture and technology choices)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numbers as evidence, not decoration. The backend tests cover every required behavior. The browser pass exercised add, edit, assign, complete/incomplete, search, filters, and responsive layout with a clean console.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backend/tasks/tests (12 passing tests)</a:t>
            </a:r>
          </a:p>
          <a:p xmlns:a="http://schemas.openxmlformats.org/drawingml/2006/main">
            <a:r>
              <a:t>- frontend/src/components/*.test.tsx (3 passing tests)</a:t>
            </a:r>
          </a:p>
          <a:p xmlns:a="http://schemas.openxmlformats.org/drawingml/2006/main">
            <a:r>
              <a:t>- .github/workflows/ci.yml (automated checks)</a:t>
            </a:r>
          </a:p>
          <a:p xmlns:a="http://schemas.openxmlformats.org/drawingml/2006/main">
            <a:r>
              <a:t>- Local browser QA run on 2026-08-07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review readiness. The repository is self-contained, the setup path is short, and the Loom script keeps the video within the requested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(setup and review path)</a:t>
            </a:r>
          </a:p>
          <a:p xmlns:a="http://schemas.openxmlformats.org/drawingml/2006/main">
            <a:r>
              <a:t>- docs/LOOM_SCRIPT.md (2-5 minute walkthrough)</a:t>
            </a:r>
          </a:p>
          <a:p xmlns:a="http://schemas.openxmlformats.org/drawingml/2006/main">
            <a:r>
              <a:t>- output/presentation/Spark-Task-Tracker-Walkthrough.pptx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38652d6b7044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1705a9da0d4cf9" /><Relationship Type="http://schemas.openxmlformats.org/officeDocument/2006/relationships/slideLayout" Target="/ppt/slideLayouts/slideLayout1.xml" Id="Rc84c1ae862954e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4c1ae862954e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25e6983654374" /><Relationship Type="http://schemas.openxmlformats.org/officeDocument/2006/relationships/notesSlide" Target="/ppt/notesSlides/notesSlide1.xml" Id="R5d5eb265256d48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d40239ea249b5" /><Relationship Type="http://schemas.openxmlformats.org/officeDocument/2006/relationships/image" Target="/ppt/media/image.jpeg" Id="R1dd5c8eee69b4997" /><Relationship Type="http://schemas.openxmlformats.org/officeDocument/2006/relationships/notesSlide" Target="/ppt/notesSlides/notesSlide2.xml" Id="R1a38dab86cad4b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efbad9b9de4c17" /><Relationship Type="http://schemas.openxmlformats.org/officeDocument/2006/relationships/notesSlide" Target="/ppt/notesSlides/notesSlide3.xml" Id="R6886b97528dd4c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4b1c1fac24bc0" /><Relationship Type="http://schemas.openxmlformats.org/officeDocument/2006/relationships/notesSlide" Target="/ppt/notesSlides/notesSlide4.xml" Id="R09aaf942518c44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8bcd2819a4068" /><Relationship Type="http://schemas.openxmlformats.org/officeDocument/2006/relationships/notesSlide" Target="/ppt/notesSlides/notesSlide5.xml" Id="R9ebb2b4dfc7041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64ac92a6934757" /><Relationship Type="http://schemas.openxmlformats.org/officeDocument/2006/relationships/notesSlide" Target="/ppt/notesSlides/notesSlide6.xml" Id="Rfcba002dfa2044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F03859-EC7B-40A3-AF10-E4DD6EDA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A7D27C3D-9AC9-47A0-B82C-568B7C77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rPr>
              <a:t>SPARK TUTORING · FULL STACK CHALLENGE</a:t>
            </a:r>
          </a:p>
        </p:txBody>
      </p:sp>
      <p:sp>
        <p:nvSpPr>
          <p:cNvPr id="3" name="cover-author">
            <a:extLst xmlns:a="http://schemas.openxmlformats.org/drawingml/2006/main">
              <a:ext uri="{FF2B5EF4-FFF2-40B4-BE49-F238E27FC236}">
                <a16:creationId xmlns:a16="http://schemas.microsoft.com/office/drawing/2014/main" id="{609FD006-A07F-4B7E-A10C-6C19C081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"/>
            <a:ext cx="3695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MARIN JURSIC · AUGUST 2026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EA99B85-D06F-42EA-8145-13B79B95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953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58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A focused team</a:t>
            </a:r>
          </a:p>
          <a:p xmlns:a="http://schemas.openxmlformats.org/drawingml/2006/main">
            <a:pPr algn="l">
              <a:defRPr sz="58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58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task tracker.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415A86C-C8B6-4E7B-AD59-0172E1EF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Clear ownership. Fast updates. Deliberate scope.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893171-5110-4B25-8DE7-3490C1CD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819775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062246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4AA26BD7-3830-47C8-9037-D37AECC5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All four required actions share one focused view.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9F5820-75F1-471C-86F6-30CFE386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CD07B8C6-ADA2-436D-81F6-1FBE74FE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76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5569DD-DE07-4CB0-8D16-78DFA884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9A9D29-1CB4-4A67-9214-A1F25796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Add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75D95-42F5-4138-8E1E-EA5361F7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62200"/>
            <a:ext cx="2552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Capture a clear title, description, and owner.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934287-35CA-47A0-8222-3C9FCFDC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F1669B-8DAA-4F99-9CE3-0C2FCD44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02895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Edit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B4D2DE-C808-4BC0-B8D5-9A60F2C8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09950"/>
            <a:ext cx="2552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Update wording or reassign work in one dialog.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6EC911-5DB5-4247-ABBD-D2FA6A4C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2D03CD-6DCA-46FA-B786-313C6422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0767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Assign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14D194-19C7-4B48-AA35-B76607B3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552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Choose from seeded example team members.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A2001A-C25E-49C1-8738-CD5F1AAF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B542EB-BECD-4E2B-A964-1C18B44A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12445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Complete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928E9B-C371-4B31-98DB-661FDDD5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505450"/>
            <a:ext cx="2552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Toggle status in either direction without losing context.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FD3ADB-B113-451B-8540-F8476EBB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09750"/>
            <a:ext cx="725805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1F1EF"/>
          </a:solidFill>
          <a:ln xmlns:a="http://schemas.openxmlformats.org/drawingml/2006/main" w="9525">
            <a:solidFill>
              <a:srgbClr val="D4D4D0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5c8eee69b4997"/>
          <a:srcRect xmlns:a="http://schemas.openxmlformats.org/drawingml/2006/main" l="0" t="914" r="0" b="9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43400" y="1905000"/>
            <a:ext cx="7067550" cy="3905250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</p:spTree>
    <p:extLst>
      <p:ext uri="{BB962C8B-B14F-4D97-AF65-F5344CB8AC3E}">
        <p14:creationId xmlns:p14="http://schemas.microsoft.com/office/powerpoint/2010/main" val="2699869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FF1714A1-5A57-43F3-BABA-D237E63E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Scope discipline keeps the product simple.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2287AD-960B-463B-AEEB-F82871BF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256E8E9A-23F4-4A75-83E7-90BC5071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76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72D6B6-A317-4D60-85E0-8085F559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rPr>
              <a:t>Included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71628-20D0-43F3-91B7-2699500D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02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Intentionally excluded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250B21-86F8-4203-A83A-D45AF469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85950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6397F-0213-4888-8BA6-A8AC9082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CEE9F2-1517-436F-B31B-AE358B87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05100"/>
            <a:ext cx="417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Persistent CRUD subset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D9C579-3E1F-4145-908C-76AFBF10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086100"/>
            <a:ext cx="4171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Create and update only - deletion was not requested.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F903E5-3152-4D51-B7FB-6BD8B3F1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1D9B73-A7E8-4B31-9F83-3F4FA92B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67150"/>
            <a:ext cx="417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One practical bonus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707D27-B506-4EFD-9016-7F2281C8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48150"/>
            <a:ext cx="4171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Search and status filters improve daily use at low complexity.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EE08EE-2BE1-4064-9F90-2FDCBD27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7A0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79D25C-5066-4160-B0A2-530651CB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417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Demo-ready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D93A1-0ADD-4767-AF13-521FBE98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410200"/>
            <a:ext cx="4171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Four realistic users and tasks arrive through a reversible migration.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247076-EC56-4191-9567-B106EE91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241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587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858783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F9FF7-53AF-4B02-A8DA-3E749B87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05100"/>
            <a:ext cx="417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Authentication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850210-1C34-4AD2-A033-1FBB36AF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86100"/>
            <a:ext cx="4171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A pretend login would add risk without a user requirement.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DF2264-694E-428B-A417-092B7F56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862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587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858783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3532BF-6762-4DFA-8B8A-50B61946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67150"/>
            <a:ext cx="417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Due dates and priority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1EDAA6-7517-4239-85DF-BBBA402F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248150"/>
            <a:ext cx="4171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Mentioned as optional, but not needed to prove the core flow.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E9206B-2605-4471-B269-8B647149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482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587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858783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D84012-D3D2-497A-8DF7-70854440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29200"/>
            <a:ext cx="417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Extra infrastructure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4E2BD2-858B-4873-9881-66B4BF25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410200"/>
            <a:ext cx="4171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No speculative services, state library, or delete workflow.</a:t>
            </a:r>
          </a:p>
        </p:txBody>
      </p:sp>
    </p:spTree>
    <p:extLst>
      <p:ext uri="{BB962C8B-B14F-4D97-AF65-F5344CB8AC3E}">
        <p14:creationId xmlns:p14="http://schemas.microsoft.com/office/powerpoint/2010/main" val="20714003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68448ACC-40DD-46E4-9EED-803F6932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Clear boundaries keep changes local.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72E872-9357-48F1-8BB0-0864ECA4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61F90328-B5EF-4ED6-8FEF-669B333A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76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AD698-8957-42BF-9179-82B45993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Each layer has one job, and every boundary is replaceable without rewriting the rest.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2114550" y="3400425"/>
            <a:ext cx="1524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4D4D0"/>
            </a:solidFill>
            <a:prstDash val="solid"/>
          </a:ln>
        </p:spPr>
      </p:cxnSp>
      <p:cxnSp>
        <p:nvCxnSpPr>
          <p:cNvPr id="30" name=""/>
          <p:cNvCxnSpPr/>
          <p:nvPr/>
        </p:nvCxnSpPr>
        <p:spPr>
          <a:xfrm xmlns:a="http://schemas.openxmlformats.org/drawingml/2006/main">
            <a:off x="4781550" y="3400425"/>
            <a:ext cx="1524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4D4D0"/>
            </a:solidFill>
            <a:prstDash val="solid"/>
          </a:ln>
        </p:spPr>
      </p:cxnSp>
      <p:cxnSp>
        <p:nvCxnSpPr>
          <p:cNvPr id="31" name=""/>
          <p:cNvCxnSpPr/>
          <p:nvPr/>
        </p:nvCxnSpPr>
        <p:spPr>
          <a:xfrm xmlns:a="http://schemas.openxmlformats.org/drawingml/2006/main">
            <a:off x="7448550" y="3400425"/>
            <a:ext cx="1524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4D4D0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7A9562-5053-40E1-8287-78FCC207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623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1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8A17E5-AE69-4729-9CD4-87ED8582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670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7692E1-9821-48E9-BC7A-96D263BD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43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React UI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66911-0058-4547-AED3-7A38F7DF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81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Accessible interaction</a:t>
            </a:r>
          </a:p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and responsive views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A1A995-2FF9-43E5-AF55-0353724F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623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1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1AB5BC-B0FD-4FF3-938E-C597A35E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2670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C6E59E-968E-456C-B2A8-54C53A6B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43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API service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4E0CE2-6098-47CC-B42E-C76DC728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81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Typed transport and</a:t>
            </a:r>
          </a:p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error translation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514FDA-EAA7-495C-A774-E28E18A6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623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0F0B43-E462-4C93-A995-4040C3E1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670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C3EF17-5431-41DE-9942-F4217DC4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43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Django REST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0C73E6-83E4-4256-A8A3-74C6A3B1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81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Validation and</a:t>
            </a:r>
          </a:p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use-case coordination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0BA40F-EDE9-4DE7-ABD7-079B4CA5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623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1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91FEB5-8390-4EE8-9921-E333101F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670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EA5471-65C6-48F9-A15D-34BE53AF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43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ORM + data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501C2E-2BAB-480C-8E55-5B68E362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81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SQLite by default;</a:t>
            </a:r>
          </a:p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PostgreSQL by config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E491C9-F798-4DE3-98BB-96D7B0D1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rPr>
              <a:t>PostgreSQL support is configuration, not a second code path.</a:t>
            </a:r>
          </a:p>
        </p:txBody>
      </p:sp>
    </p:spTree>
    <p:extLst>
      <p:ext uri="{BB962C8B-B14F-4D97-AF65-F5344CB8AC3E}">
        <p14:creationId xmlns:p14="http://schemas.microsoft.com/office/powerpoint/2010/main" val="20632041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8E18E9A-2EB2-4412-928A-6B1D7A8E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Quality is visible at every layer.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B263A3-3A41-49D7-93EF-C0C63092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62D19269-EBD9-4E33-85F3-EF91DA25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76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04B49F-8919-42BE-AD9D-D6510ADF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The same fast checks run locally and in GitHub Actions, supported by hands-on browser QA.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284E9B-FE1C-47D8-B07C-23D5C724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2004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1CDCD2-7887-416C-B0B9-937BDF27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200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55F868-BDA1-4C4C-A142-69898C8B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2571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55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E6160A-53F1-444A-9358-B0605CC0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backend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8B7B9-53ED-4430-A387-24EF716B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52950"/>
            <a:ext cx="2647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Models, validation, filtering, assignment, editing, and status changes.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7B265-4CAE-40C8-9614-E0B3FDB1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14625"/>
            <a:ext cx="32004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05C920-916B-4069-A793-ADEBE19F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14625"/>
            <a:ext cx="3200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5E4127-5D69-43D7-92F7-A18BB108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48000"/>
            <a:ext cx="2571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55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DE94F8-DF33-4DA4-8D4C-F74ABC80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195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frontend tests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4CCFFC-A893-4B56-9E2E-ED0C4661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552950"/>
            <a:ext cx="2647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Required task content, actions, search, and filter interactions.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699EF6-B709-4994-B084-8C1BC807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14625"/>
            <a:ext cx="32004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865AF7-1F05-4E33-8A3A-8C5DF842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14625"/>
            <a:ext cx="3200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2279F3-3DB5-4B94-880D-BAFA4A1F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2571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55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7F6E75-4BE8-4E53-B8B9-1FAD525F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195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verified viewports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C68702-CB0E-45BB-8F39-82602305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52950"/>
            <a:ext cx="2647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Desktop and mobile flows, including the responsive edit dialog.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0DBBEB-EB95-4991-B219-E6F9BC3D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rPr>
              <a:t>0 browser console warnings or errors in the verified workflow</a:t>
            </a:r>
          </a:p>
        </p:txBody>
      </p:sp>
    </p:spTree>
    <p:extLst>
      <p:ext uri="{BB962C8B-B14F-4D97-AF65-F5344CB8AC3E}">
        <p14:creationId xmlns:p14="http://schemas.microsoft.com/office/powerpoint/2010/main" val="3951096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216F6A-1D68-4CF5-9781-8C1A9396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rPr>
              <a:t>SUBMISSION HANDOFF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21E30770-F671-405F-80FD-B51F3FE0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8953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58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Ready to review</a:t>
            </a:r>
          </a:p>
          <a:p xmlns:a="http://schemas.openxmlformats.org/drawingml/2006/main">
            <a:pPr algn="l">
              <a:defRPr sz="58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defRPr>
            </a:pPr>
            <a:r>
              <a:rPr sz="5850" b="1">
                <a:solidFill>
                  <a:srgbClr val="202124"/>
                </a:solidFill>
                <a:latin typeface="Helvetica Neue"/>
                <a:ea typeface="Helvetica Neue"/>
                <a:cs typeface="Helvetica Neue"/>
              </a:rPr>
              <a:t>in minutes.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FD1DAF-9623-401F-B55C-ED9942D4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DB2C9-7AE5-49E9-8560-4F976DB1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rPr>
              <a:t>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4EA4C-07BE-4272-A086-969580011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Install, migrate, and start</a:t>
            </a:r>
          </a:p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with the documented commands.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29320-08B7-4E2E-8A93-825A23E7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577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rPr>
              <a:t>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165934-9969-4190-8E19-66228A07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3149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README, focused source,</a:t>
            </a:r>
          </a:p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and automated CI checks.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15EE09-039F-4D13-A6A5-CAFE0864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577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B64F00"/>
                </a:solidFill>
                <a:latin typeface="Helvetica Neue"/>
                <a:ea typeface="Helvetica Neue"/>
                <a:cs typeface="Helvetica Neue"/>
              </a:rPr>
              <a:t>Walk through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AB517-132A-49A0-B6A2-6589D050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149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A prepared 2-5 minute</a:t>
            </a:r>
          </a:p>
          <a:p xmlns:a="http://schemas.openxmlformats.org/drawingml/2006/main">
            <a:pPr algn="l">
              <a:def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Loom narrative and this deck.</a:t>
            </a:r>
          </a:p>
        </p:txBody>
      </p:sp>
      <p:sp>
        <p:nvSpPr>
          <p:cNvPr id="10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5E111E9E-B092-43A5-9F9B-1260F731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76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2656A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94832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Marin Jursic</dc:creator>
  <lastModifiedBy>Marin Jursic</lastModifiedBy>
  <dc:title>Spark Team Task Tracker - Technical Walkthrough</dc:title>
  <dc:subject>Full Stack Developer Task Tracker Challenge</dc:subject>
  <dcterms:created xsi:type="dcterms:W3CDTF">2026-08-07T14:35:57.6850000Z</dcterms:created>
  <dcterms:modified xsi:type="dcterms:W3CDTF">2026-08-07T14:35:57.6850000Z</dcterms:modified>
</coreProperties>
</file>